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F4E">
              <a:alpha val="30000"/>
            </a:srgbClr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2E">
              <a:alpha val="25000"/>
            </a:srgbClr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1A0B2E">
              <a:alpha val="28000"/>
            </a:srgbClr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38912"/>
            <a:ext cx="2377440" cy="274320"/>
          </a:xfrm>
          <a:prstGeom prst="roundRect">
            <a:avLst>
              <a:gd name="adj" fmla="val 26667"/>
            </a:avLst>
          </a:prstGeom>
          <a:solidFill>
            <a:srgbClr val="0D2040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8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FF"/>
                </a:solidFill>
              </a:rPr>
              <a:t>ARCHITECTURE REVIEW BOARD  · 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949E"/>
                </a:solidFill>
              </a:rPr>
              <a:t>PLATFORM TRANSFORMATION STRATEGY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FinOps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Current State  ·  Gap Analysis  ·  Future State  ·  Phased Roadmap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2344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234440"/>
            <a:ext cx="36576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13075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</a:rPr>
              <a:t>RESILIENCE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01968" y="15819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Reactive → Proactive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23774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377440"/>
            <a:ext cx="36576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24505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CLOUD COST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01968" y="27249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~30% Waste Identified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24612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4612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01  CURRENT STATE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06040" y="324612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324612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02  GAP ANALYSIS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24612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24612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03  FUTURE STATE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12280" y="324612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24612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</a:rPr>
              <a:t>04  ROADMAP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6634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Paysafe Cloud Native Platform  ·  Platform Engineering Guild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F4E">
              <a:alpha val="30000"/>
            </a:srgbClr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2E">
              <a:alpha val="25000"/>
            </a:srgbClr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1A0B2E">
              <a:alpha val="28000"/>
            </a:srgbClr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D2FF"/>
                </a:solidFill>
              </a:rPr>
              <a:t>EXECUTIVE SUMMARY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Strategic Initiatives — One Platform Vision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914400"/>
            <a:ext cx="416052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98755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</a:rPr>
              <a:t>⚡  Chaos Engineering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" y="131673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Resilience &amp; Fault Tolerance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83133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600200"/>
            <a:ext cx="1185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F4444"/>
                </a:solidFill>
              </a:rPr>
              <a:t>NOW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4632" y="1847088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Reactive incident response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" y="2249424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No GameDays or chaos drills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4632" y="2651760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Manual undocumented runbooks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" y="3054096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Teams surprised by outages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716024" y="1600200"/>
            <a:ext cx="0" cy="224028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61744" y="1600200"/>
            <a:ext cx="1185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855F7"/>
                </a:solidFill>
              </a:rPr>
              <a:t>GAP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761744" y="1847088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No chaos tooling deployed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761744" y="2249424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No blast-radius governance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761744" y="2651760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Missing SLO/SLA definitions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61744" y="3054096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Culture: fear of breaking things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93136" y="1600200"/>
            <a:ext cx="0" cy="224028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8856" y="1600200"/>
            <a:ext cx="1185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0B981"/>
                </a:solidFill>
              </a:rPr>
              <a:t>FUTURE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038856" y="1847088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LitmusChaos / Gremlin pipelines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38856" y="2249424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SLO-gated fault injection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038856" y="2651760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Quarterly GameDay cadence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038856" y="3054096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Chaos-as-Service on PEON IDP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8912" y="3520440"/>
            <a:ext cx="383133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566160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F4444"/>
                </a:solidFill>
              </a:rPr>
              <a:t>TARGET OUTCOMES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38912" y="3785616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78561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0F6FF"/>
                </a:solidFill>
              </a:rPr>
              <a:t>✓ 50% ↓ P1 incidents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700784" y="3785616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37360" y="378561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0F6FF"/>
                </a:solidFill>
              </a:rPr>
              <a:t>✓ MTTR &lt; 30 min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962656" y="3785616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9232" y="378561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0F6FF"/>
                </a:solidFill>
              </a:rPr>
              <a:t>✓ 100% critical svcs covered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709160" y="91440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914400"/>
            <a:ext cx="41605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98755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</a:rPr>
              <a:t>💰  FinOps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873752" y="131673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Cloud Cost Visibility &amp; Optimisation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73752" y="1554480"/>
            <a:ext cx="383133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1600200"/>
            <a:ext cx="1185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F4444"/>
                </a:solidFill>
              </a:rPr>
              <a:t>NOW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19472" y="1847088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Reactive monthly cost reviews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19472" y="2249424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&lt;40% resources tagged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19472" y="2651760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No team-level chargeback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19472" y="3054096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~30% estimated cloud waste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50864" y="1600200"/>
            <a:ext cx="0" cy="224028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6584" y="1600200"/>
            <a:ext cx="1185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855F7"/>
                </a:solidFill>
              </a:rPr>
              <a:t>GAP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196584" y="1847088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No Kubecost / cost tooling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96584" y="2249424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Missing tagging enforcement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96584" y="2651760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No FinOps CoE or practitioners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96584" y="3054096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No unit economics tracking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427976" y="1600200"/>
            <a:ext cx="0" cy="224028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73696" y="1600200"/>
            <a:ext cx="1185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0B981"/>
                </a:solidFill>
              </a:rPr>
              <a:t>FUTURE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473696" y="1847088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Real-time Kubecost dashboards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473696" y="2249424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OPA-enforced tagging policy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473696" y="2651760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Full team chargeback model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473696" y="3054096"/>
            <a:ext cx="1185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FinOps KPIs in PEON IDP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873752" y="3520440"/>
            <a:ext cx="383133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73752" y="3566160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</a:rPr>
              <a:t>TARGET OUTCOMES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873752" y="3785616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10328" y="378561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0F6FF"/>
                </a:solidFill>
              </a:rPr>
              <a:t>✓ 20-30% cost reduction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135624" y="3785616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72200" y="378561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0F6FF"/>
                </a:solidFill>
              </a:rPr>
              <a:t>✓ 100% resources tagged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397496" y="3785616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34072" y="378561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0F6FF"/>
                </a:solidFill>
              </a:rPr>
              <a:t>✓ FinOps CoE established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2 / 14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7432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PAYSAFE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F4E">
              <a:alpha val="30000"/>
            </a:srgbClr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2E">
              <a:alpha val="25000"/>
            </a:srgbClr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1A0B2E">
              <a:alpha val="28000"/>
            </a:srgbClr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</a:rPr>
              <a:t>⚡  CHAOS ENGINEERING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74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Where We Are Today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22960"/>
            <a:ext cx="219456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896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86968" y="93268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Reactive Testing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1316736"/>
            <a:ext cx="199339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3898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✗  Failures discovered in production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" y="18653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✗  Post-incident war rooms only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9768" y="23408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✗  No proactive fault injection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28163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✗  Teams surprised by outages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79192" y="82296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9192" y="822960"/>
            <a:ext cx="219456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896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46120" y="93268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Manual Runbooks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88920" y="1316736"/>
            <a:ext cx="199339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13898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✗  Undocumented failure scenarios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88920" y="18653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✗  Inconsistent recovery steps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88920" y="23408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✗  Knowledge siloed in people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88920" y="28163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✗  No playbook versioning or CI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38344" y="82296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38344" y="822960"/>
            <a:ext cx="219456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48072" y="896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🏝️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605272" y="93268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No Chaos Culture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48072" y="1316736"/>
            <a:ext cx="199339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8072" y="13898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✗  Zero GameDays ever conducted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48072" y="18653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✗  Isolated team testing only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148072" y="23408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✗  No SLO/SLA definitions shared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48072" y="28163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✗  Leadership risk blind spots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086600" y="804672"/>
            <a:ext cx="1828800" cy="25786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0608" y="859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8B949E"/>
                </a:solidFill>
              </a:rPr>
              <a:t>CURRENT ARCHITECTURE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7205472" y="1115568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21262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05472" y="111556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F"/>
                </a:solidFill>
              </a:rPr>
              <a:t>Service 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205472" y="1664208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21262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472" y="16642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F"/>
                </a:solidFill>
              </a:rPr>
              <a:t>Service B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205472" y="2212848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21262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05472" y="221284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F"/>
                </a:solidFill>
              </a:rPr>
              <a:t>Service C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964424" y="1161288"/>
            <a:ext cx="256032" cy="25603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82712" y="117957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✗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964424" y="1709928"/>
            <a:ext cx="256032" cy="25603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82712" y="17282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✗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964424" y="2258568"/>
            <a:ext cx="256032" cy="25603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82712" y="227685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✗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589520" y="1463040"/>
            <a:ext cx="0" cy="20116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89520" y="2011680"/>
            <a:ext cx="0" cy="20116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56448" y="111556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</a:rPr>
              <a:t>No blast-radius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156448" y="13898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</a:rPr>
              <a:t>control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156448" y="16642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</a:rPr>
              <a:t>No chaos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156448" y="18470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</a:rPr>
              <a:t>tooling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20040" y="3547872"/>
            <a:ext cx="85039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" y="3547872"/>
            <a:ext cx="8503920" cy="320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3584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F4444"/>
                </a:solidFill>
              </a:rPr>
              <a:t>KEY METRICS — CURRENT STATE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40080" y="38221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6FF"/>
                </a:solidFill>
              </a:rPr>
              <a:t>~60%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640080" y="4315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Services without chaos coverage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487168" y="3703320"/>
            <a:ext cx="0" cy="86868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0" y="38221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6FF"/>
                </a:solidFill>
              </a:rPr>
              <a:t>0</a:t>
            </a:r>
            <a:endParaRPr lang="en-US" sz="2800" dirty="0"/>
          </a:p>
        </p:txBody>
      </p:sp>
      <p:sp>
        <p:nvSpPr>
          <p:cNvPr id="63" name="Text 61"/>
          <p:cNvSpPr/>
          <p:nvPr/>
        </p:nvSpPr>
        <p:spPr>
          <a:xfrm>
            <a:off x="2743200" y="4315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Formal GameDays ever run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590288" y="3703320"/>
            <a:ext cx="0" cy="86868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38221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6FF"/>
                </a:solidFill>
              </a:rPr>
              <a:t>&gt;24h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4846320" y="4315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Average MTTR (P1 incidents)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693408" y="3703320"/>
            <a:ext cx="0" cy="86868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49440" y="38221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6FF"/>
                </a:solidFill>
              </a:rPr>
              <a:t>NONE</a:t>
            </a:r>
            <a:endParaRPr lang="en-US" sz="2800" dirty="0"/>
          </a:p>
        </p:txBody>
      </p:sp>
      <p:sp>
        <p:nvSpPr>
          <p:cNvPr id="69" name="Text 67"/>
          <p:cNvSpPr/>
          <p:nvPr/>
        </p:nvSpPr>
        <p:spPr>
          <a:xfrm>
            <a:off x="6949440" y="4315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Chaos tooling deployed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3 / 14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7432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PAYSAFE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F4E">
              <a:alpha val="30000"/>
            </a:srgbClr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2E">
              <a:alpha val="25000"/>
            </a:srgbClr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1A0B2E">
              <a:alpha val="28000"/>
            </a:srgbClr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855F7"/>
                </a:solidFill>
              </a:rPr>
              <a:t>⚡  CHAOS ENGINEERING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74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— What's Missing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804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DIMENSION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901952" y="804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HAVE TODAY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39312" y="8046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NEED TOMORROW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788152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PRIORITY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251192" y="804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EFFORT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1078992"/>
            <a:ext cx="85039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113385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</a:rPr>
              <a:t>Tooling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01952" y="11338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✗ Manual scripts / none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39312" y="113385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LitmusChaos / Gremlin / Chaos Mesh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97880" y="1207008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CRITICAL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269480" y="120700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1207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High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" y="1609344"/>
            <a:ext cx="8503920" cy="51206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166420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</a:rPr>
              <a:t>Process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01952" y="166420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✗ Ad-hoc fire drills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39312" y="166420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Quarterly GameDays + runbook library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897880" y="1737360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7373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HIGH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269480" y="1737360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1737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High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" y="2139696"/>
            <a:ext cx="85039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219456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</a:rPr>
              <a:t>Observability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01952" y="21945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✗ Reactive alerting only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39312" y="219456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SLO dashboards &amp; chaos metrics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97880" y="2267712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2677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HIGH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269480" y="226771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22677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Medium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0040" y="2670048"/>
            <a:ext cx="8503920" cy="51206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272491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</a:rPr>
              <a:t>Governance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901952" y="27249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✗ No blast-radius controls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639312" y="272491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Policy guardrails + rollback gates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897880" y="279806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27980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CRITICAL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269480" y="2798064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2798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High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20040" y="3200400"/>
            <a:ext cx="85039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" y="325526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</a:rPr>
              <a:t>Culture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901952" y="32552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✗ Fear of breaking prod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639312" y="325526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Blameless experimentation culture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897880" y="3328416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97880" y="33284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MED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269480" y="3328416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69480" y="33284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Medium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20040" y="3730752"/>
            <a:ext cx="8503920" cy="51206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3192" y="378561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</a:rPr>
              <a:t>Skills / CoE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901952" y="37856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✗ No chaos champions exist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639312" y="378561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Chaos Engineering CoE (3 FTE)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897880" y="3858768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97880" y="38587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HIGH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269480" y="385876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69480" y="38587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Medium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20040" y="4041648"/>
            <a:ext cx="8503920" cy="420624"/>
          </a:xfrm>
          <a:prstGeom prst="roundRect">
            <a:avLst>
              <a:gd name="adj" fmla="val 17391"/>
            </a:avLst>
          </a:prstGeom>
          <a:solidFill>
            <a:srgbClr val="1A0B0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40416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F4444"/>
                </a:solidFill>
              </a:rPr>
              <a:t>⚠  3 CRITICAL gaps require immediate investment. Blast-radius controls and tooling are blocking all chaos experiments.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4 / 14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27432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PAYSAFE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F4E">
              <a:alpha val="30000"/>
            </a:srgbClr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2E">
              <a:alpha val="25000"/>
            </a:srgbClr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1A0B2E">
              <a:alpha val="28000"/>
            </a:srgbClr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</a:rPr>
              <a:t>⚡  CHAOS ENGINEERING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74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— Target Architecture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5303520" cy="3383280"/>
          </a:xfrm>
          <a:prstGeom prst="roundRect">
            <a:avLst>
              <a:gd name="adj" fmla="val 27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8595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B949E"/>
                </a:solidFill>
              </a:rPr>
              <a:t>TARGET CHAOS ENGINEERING ARCHITECTURE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2336" y="111556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B949E"/>
                </a:solidFill>
              </a:rPr>
              <a:t>OBSERVE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97280" y="1188720"/>
            <a:ext cx="1207008" cy="402336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18872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Prometheus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+Grafana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87168" y="1188720"/>
            <a:ext cx="1207008" cy="402336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18872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SLO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Dashboards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877056" y="1188720"/>
            <a:ext cx="1207008" cy="402336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18872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AppDynamics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OTel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700784" y="1591056"/>
            <a:ext cx="0" cy="29260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27632" y="182880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▼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090672" y="1591056"/>
            <a:ext cx="0" cy="29260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82880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480560" y="1591056"/>
            <a:ext cx="0" cy="29260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07408" y="182880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▼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02336" y="187452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B949E"/>
                </a:solidFill>
              </a:rPr>
              <a:t>INJECT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097280" y="1947672"/>
            <a:ext cx="1207008" cy="402336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194767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LitmusChaos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Engine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487168" y="1947672"/>
            <a:ext cx="1207008" cy="402336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194767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Gremlin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Scenarios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77056" y="1947672"/>
            <a:ext cx="1207008" cy="402336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77056" y="194767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Blast Radius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Governor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700784" y="2350008"/>
            <a:ext cx="0" cy="29260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27632" y="25877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▼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090672" y="2350008"/>
            <a:ext cx="0" cy="29260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25877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▼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480560" y="2350008"/>
            <a:ext cx="0" cy="29260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25877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0363D"/>
                </a:solidFill>
              </a:rPr>
              <a:t>▼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02336" y="26334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B949E"/>
                </a:solidFill>
              </a:rPr>
              <a:t>VALIDATE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097280" y="2706624"/>
            <a:ext cx="1207008" cy="402336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2706624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SLO Gate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CI/CD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87168" y="2706624"/>
            <a:ext cx="1207008" cy="402336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87168" y="2706624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Rollback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Trigger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877056" y="2706624"/>
            <a:ext cx="1207008" cy="402336"/>
          </a:xfrm>
          <a:prstGeom prst="roundRect">
            <a:avLst>
              <a:gd name="adj" fmla="val 13636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77056" y="2706624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GameDay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Orchestrator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097280" y="1389888"/>
            <a:ext cx="3950208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0" y="2148840"/>
            <a:ext cx="3950208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" y="3218688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01020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321868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D2FF"/>
                </a:solidFill>
              </a:rPr>
              <a:t>🔗  Chaos-as-a-Service surface on PEON Internal Developer Portal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60720" y="804672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60720" y="804672"/>
            <a:ext cx="914400" cy="1024128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97296" y="859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Phase 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797296" y="1078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Q1–Q2 2026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748272" y="8595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748272" y="113385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· Select &amp; deploy LitmusChaos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748272" y="129844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· Define blast-radius policies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748272" y="146304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· Instrument SLOs top 20 svcs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748272" y="162763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· Create runbook template library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760720" y="1947672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60720" y="1947672"/>
            <a:ext cx="914400" cy="1024128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97296" y="2002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Phase 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797296" y="2221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Q3–Q4 2026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748272" y="20025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Practice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748272" y="227685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· First engineering GameDay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748272" y="244144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· Chaos pipelines in CI/CD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748272" y="260604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· SLO-gated chaos gates live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748272" y="277063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· Team chaos champion network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760720" y="3090672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60720" y="3090672"/>
            <a:ext cx="914400" cy="1024128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97296" y="3145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Phase 3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797296" y="3364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2027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748272" y="31455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Scale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748272" y="341985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· Cross-team GameDay quarterly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748272" y="358444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· Chaos-as-Service on PEON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748272" y="374904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· All critical svcs covered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748272" y="391363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· Chaos KPIs in exec dashboard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7178040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</a:rPr>
              <a:t>↓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178040" y="2971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</a:rPr>
              <a:t>↓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5 / 14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7432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PAYSAFE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F4E">
              <a:alpha val="30000"/>
            </a:srgbClr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2E">
              <a:alpha val="25000"/>
            </a:srgbClr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1A0B2E">
              <a:alpha val="28000"/>
            </a:srgbClr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EB"/>
                </a:solidFill>
              </a:rPr>
              <a:t>⚡  CHAOS ENGINEERING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74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Model — Journey to Chaos Excellence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" y="841248"/>
            <a:ext cx="8430768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841248"/>
            <a:ext cx="8430768" cy="658368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96926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969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L1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932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Reactive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1887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Failures found in prod. No formal testing practice.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77440" y="1078992"/>
            <a:ext cx="4114800" cy="16459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078992"/>
            <a:ext cx="493776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060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12%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28432" y="1024128"/>
            <a:ext cx="1024128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102412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📍 NOW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7472" y="1591056"/>
            <a:ext cx="8430768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" y="171907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L2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1682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Aware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19385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Team knows chaos eng. First runbooks being created.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377440" y="1828800"/>
            <a:ext cx="4114800" cy="16459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1828800"/>
            <a:ext cx="14401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810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35%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2340864"/>
            <a:ext cx="8430768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" y="246888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00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L3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24323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Repeatable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26883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GameDay cadence established. Chaos in lower environments.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77440" y="2578608"/>
            <a:ext cx="4114800" cy="16459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0" y="2578608"/>
            <a:ext cx="2263140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55%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" y="3090672"/>
            <a:ext cx="8430768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" y="32186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L4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" y="3182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Proactive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34381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Chaos in CI/CD pipeline. SLO-gated experiments live.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377440" y="3328416"/>
            <a:ext cx="4114800" cy="16459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77440" y="3328416"/>
            <a:ext cx="308610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33101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75%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7472" y="3840480"/>
            <a:ext cx="8430768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2336" y="396849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0000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2336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FF"/>
                </a:solidFill>
              </a:rPr>
              <a:t>L5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60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Optimising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22960" y="41879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Chaos-as-a-Service. Auto-healing &amp; continuous testing.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377440" y="4078224"/>
            <a:ext cx="4114800" cy="16459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4078224"/>
            <a:ext cx="4114800" cy="164592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40599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FF"/>
                </a:solidFill>
              </a:rPr>
              <a:t>100%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22592" y="822960"/>
            <a:ext cx="1755648" cy="365760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22592" y="822960"/>
            <a:ext cx="1755648" cy="36576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95744" y="877824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0D2FF"/>
                </a:solidFill>
              </a:rPr>
              <a:t>TARGET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095744" y="1078992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6FF"/>
                </a:solidFill>
              </a:rPr>
              <a:t>L4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7095744" y="142646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2FF"/>
                </a:solidFill>
              </a:rPr>
              <a:t>Proactive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2FF"/>
                </a:solidFill>
              </a:rPr>
              <a:t>SLO-Driven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150608" y="1920240"/>
            <a:ext cx="1463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95744" y="197510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✓ Chaos in CI/CD gates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095744" y="230428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✓ P0/P1 all covered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095744" y="263347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✓ SLO breach = halt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095744" y="296265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✓ Quarterly GameDays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095744" y="329184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✓ Champion per squad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47472" y="4590288"/>
            <a:ext cx="8430768" cy="310896"/>
          </a:xfrm>
          <a:prstGeom prst="roundRect">
            <a:avLst>
              <a:gd name="adj" fmla="val 17647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4608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TODAY — L1 Reactive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395728" y="460857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→  Q4 2026 — L2 Aware  →  Q2 2027 — L3 Repeatable  →  2028 — L4 Proactive (TARGET)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6 / 14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7432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PAYSAFE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F4E">
              <a:alpha val="30000"/>
            </a:srgbClr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2E">
              <a:alpha val="25000"/>
            </a:srgbClr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1A0B2E">
              <a:alpha val="28000"/>
            </a:srgbClr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💰  FINOPS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74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Where We Are Today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0" y="804672"/>
            <a:ext cx="3749040" cy="3401568"/>
          </a:xfrm>
          <a:prstGeom prst="roundRect">
            <a:avLst>
              <a:gd name="adj" fmla="val 268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3792" y="85953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B949E"/>
                </a:solidFill>
              </a:rPr>
              <a:t>CURRENT COST VISIBILITY MODEL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577840" y="1115568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115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AWS / Azure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Cloud Spend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03720" y="1618488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162763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77840" y="1810512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8105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Central Cost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Centre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2313432"/>
            <a:ext cx="0" cy="164592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2322576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2505456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5054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Teams A B C 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(No visibility)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31638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❌ No team-level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charging or visibility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804672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804672"/>
            <a:ext cx="452628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896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6112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F"/>
                </a:solidFill>
              </a:rPr>
              <a:t>Reactive Reviews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96112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✗ Monthly budget reviews only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96112" y="1481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✗ No real-time cost dashboards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99232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✗ Anomalies caught at month-end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99232" y="1481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✗ No alert on spend spikes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1901952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901952"/>
            <a:ext cx="452628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1993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6112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F"/>
                </a:solidFill>
              </a:rPr>
              <a:t>Poor Tagging (&lt;40%)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96112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✗ Resources without cost tags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96112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✗ No cost allocation taxonomy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999232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✗ Shared infra costs not split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999232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✗ No team attribution model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2999232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2999232"/>
            <a:ext cx="452628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0906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96112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F"/>
                </a:solidFill>
              </a:rPr>
              <a:t>No Chargeback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96112" y="3401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✗ Centralised cost centre only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96112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✗ Engineering blind to their spend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999232" y="3401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✗ No incentive to optimise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999232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✗ No unit economics tracked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0040" y="3547872"/>
            <a:ext cx="4526280" cy="80467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3547872"/>
            <a:ext cx="452628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621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~30%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457200" y="4005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Cloud waste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938528" y="3657600"/>
            <a:ext cx="0" cy="56692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38528" y="3621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&lt;40%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938528" y="4005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Tagged resources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419856" y="3657600"/>
            <a:ext cx="0" cy="56692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19856" y="3621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$0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3419856" y="4005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Team visibility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7 / 14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7432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PAYSAFE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F4E">
              <a:alpha val="30000"/>
            </a:srgbClr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2E">
              <a:alpha val="25000"/>
            </a:srgbClr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1A0B2E">
              <a:alpha val="28000"/>
            </a:srgbClr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855F7"/>
                </a:solidFill>
              </a:rPr>
              <a:t>💰  FINOPS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74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— Bridging to Cloud Financial Excellence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DIMENSION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56232" y="80467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HAVE TODAY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9584" y="8046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NEED TOMORROW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742432" y="804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PRIORITY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205472" y="804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IMPACT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1078992"/>
            <a:ext cx="85039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1133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</a:rPr>
              <a:t>Cost Tooling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56232" y="1133856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✗ Manual spreadsheets only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29584" y="113385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Kubecost + AWS Cost Explorer APIs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52160" y="1207008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12070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CRITICAL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315200" y="1207008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20700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$$$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1609344"/>
            <a:ext cx="8503920" cy="51206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166420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</a:rPr>
              <a:t>Tag Governance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56232" y="1664208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✗ Ad-hoc, &lt;40% compliant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29584" y="166420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OPA-enforced tagging + audit jobs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852160" y="1737360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173736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CRITICAL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315200" y="1737360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173736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$$$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2139696"/>
            <a:ext cx="85039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</a:rPr>
              <a:t>Chargeback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56232" y="2194560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✗ Central cost centre only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29584" y="219456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Team-level showback → chargeback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52160" y="2267712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22677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HIGH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315200" y="2267712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226771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$$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2670048"/>
            <a:ext cx="8503920" cy="51206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27249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</a:rPr>
              <a:t>FinOps Team/CoE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856232" y="272491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✗ No practitioners exist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529584" y="2724912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FinOps CoE (3–5 FTE) by Q2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852160" y="2798064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52160" y="279806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CRITICAL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315200" y="2798064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27980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$$$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200400"/>
            <a:ext cx="85039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" y="325526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</a:rPr>
              <a:t>Unit Economics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856232" y="3255264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✗ Not measured / not tracked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529584" y="325526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Cost per API call / transaction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852160" y="3328416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332841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HIGH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315200" y="3328416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0" y="332841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$$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" y="3730752"/>
            <a:ext cx="8503920" cy="51206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3192" y="378561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</a:rPr>
              <a:t>Waste Mgmt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856232" y="3785616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✗ No rightsizing process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529584" y="378561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✓ Automated rightsizing + idle alerts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852160" y="3858768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52160" y="385876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HIGH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315200" y="3858768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0" y="38587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$$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" y="4261104"/>
            <a:ext cx="8503920" cy="420624"/>
          </a:xfrm>
          <a:prstGeom prst="roundRect">
            <a:avLst>
              <a:gd name="adj" fmla="val 17391"/>
            </a:avLst>
          </a:prstGeom>
          <a:solidFill>
            <a:srgbClr val="0D1A0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426110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</a:rPr>
              <a:t>💡  Addressing tooling + tagging alone can recover 20–30% cloud waste (~$Xm annually). Highest ROI initiative in the platform portfolio.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8 / 14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27432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PAYSAFE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F4E">
              <a:alpha val="30000"/>
            </a:srgbClr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2E">
              <a:alpha val="25000"/>
            </a:srgbClr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1A0B2E">
              <a:alpha val="28000"/>
            </a:srgbClr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</a:rPr>
              <a:t>💰  FINOPS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74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— Target FinOps Architecture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8503920" cy="2907792"/>
          </a:xfrm>
          <a:prstGeom prst="roundRect">
            <a:avLst>
              <a:gd name="adj" fmla="val 31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859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B949E"/>
                </a:solidFill>
              </a:rPr>
              <a:t>TARGET FINOPS DATA FLOW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078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B949E"/>
                </a:solidFill>
              </a:rPr>
              <a:t>CLOUD PROVIDERS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84048" y="1280160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28016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AWS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25296" y="1280160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128016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Azure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66544" y="1280160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128016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GCP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07792" y="1453896"/>
            <a:ext cx="457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7792" y="1371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01568" y="1133856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113385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Kubecost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Enterprise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9744" y="1453896"/>
            <a:ext cx="457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1371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03520" y="1133856"/>
            <a:ext cx="1325880" cy="658368"/>
          </a:xfrm>
          <a:prstGeom prst="roundRect">
            <a:avLst>
              <a:gd name="adj" fmla="val 9722"/>
            </a:avLst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133856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Cost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Warehouse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56832" y="1453896"/>
            <a:ext cx="457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1371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50608" y="1133856"/>
            <a:ext cx="1353312" cy="658368"/>
          </a:xfrm>
          <a:prstGeom prst="roundRect">
            <a:avLst>
              <a:gd name="adj" fmla="val 9722"/>
            </a:avLst>
          </a:prstGeom>
          <a:solidFill>
            <a:srgbClr val="000000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0608" y="113385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FF"/>
                </a:solidFill>
              </a:rPr>
              <a:t>PEON IDP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2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1901952"/>
            <a:ext cx="839419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1938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B949E"/>
                </a:solidFill>
              </a:rPr>
              <a:t>TEAM-LEVEL COST DASHBOARDS &amp; CHARGEBACK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84048" y="2157984"/>
            <a:ext cx="150876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21579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Payments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" y="23865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</a:rPr>
              <a:t>Showback → Chargeback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066544" y="2157984"/>
            <a:ext cx="150876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66544" y="21579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Auth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66544" y="23865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</a:rPr>
              <a:t>Showback → Chargeback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749040" y="2157984"/>
            <a:ext cx="150876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21579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Risk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49040" y="23865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</a:rPr>
              <a:t>Showback → Chargeback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431536" y="2157984"/>
            <a:ext cx="150876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31536" y="21579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Data Platform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31536" y="23865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</a:rPr>
              <a:t>Showback → Chargeback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7114032" y="2157984"/>
            <a:ext cx="150876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14032" y="21579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Infra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14032" y="23865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</a:rPr>
              <a:t>Showback → Chargeback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84048" y="269748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55F7"/>
                </a:solidFill>
              </a:rPr>
              <a:t>🛡  OPA Gatekeeper  —  Tag Enforcement Policy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77840" y="2697480"/>
            <a:ext cx="3163824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</a:rPr>
              <a:t>⚡  Automated Rightsizing  +  Idle Alerts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" y="3822192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" y="3822192"/>
            <a:ext cx="868680" cy="804672"/>
          </a:xfrm>
          <a:prstGeom prst="roundRect">
            <a:avLst>
              <a:gd name="adj" fmla="val 909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6616" y="3858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Phase 1 Q1–Q2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56616" y="40599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Inform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234440" y="385876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Kubecost deploy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234440" y="4096512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Tagging policy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234440" y="433425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FinOps CoE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081528" y="41148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63D"/>
                </a:solidFill>
              </a:rPr>
              <a:t>→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200400" y="3822192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00400" y="3822192"/>
            <a:ext cx="868680" cy="804672"/>
          </a:xfrm>
          <a:prstGeom prst="roundRect">
            <a:avLst>
              <a:gd name="adj" fmla="val 909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36976" y="3858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Phase 2 Q3–Q4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236976" y="40599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Optimise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114800" y="385876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Team dashboards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114800" y="4096512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Rightsizing auto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114800" y="433425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Idle detection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961888" y="41148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63D"/>
                </a:solidFill>
              </a:rPr>
              <a:t>→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080760" y="3822192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80760" y="3822192"/>
            <a:ext cx="868680" cy="804672"/>
          </a:xfrm>
          <a:prstGeom prst="roundRect">
            <a:avLst>
              <a:gd name="adj" fmla="val 909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17336" y="3858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Phase 3 Y2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117336" y="40599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F"/>
                </a:solidFill>
              </a:rPr>
              <a:t>Operate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995160" y="385876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Full chargeback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995160" y="4096512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Unit economics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995160" y="433425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· PEON integration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9 / 14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27432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PAYSAFE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F4E">
              <a:alpha val="30000"/>
            </a:srgbClr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2E">
              <a:alpha val="25000"/>
            </a:srgbClr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1A0B2E">
              <a:alpha val="28000"/>
            </a:srgbClr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💰  FINOPS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74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Maturity Model — Crawl · Walk · Run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2606040" cy="3401568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22960"/>
            <a:ext cx="260604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914400"/>
            <a:ext cx="2331720" cy="420624"/>
          </a:xfrm>
          <a:prstGeom prst="roundRect">
            <a:avLst>
              <a:gd name="adj" fmla="val 1304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9144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CRAWL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1389888"/>
            <a:ext cx="233172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3898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Current State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17830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17190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Manual cost reports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2402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1762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No resource tagging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6974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26334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Zero team visibility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30906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Reactive to budget alerts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35478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No FinOps ownership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822960"/>
            <a:ext cx="2606040" cy="3401568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4680" y="822960"/>
            <a:ext cx="26060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914400"/>
            <a:ext cx="2331720" cy="420624"/>
          </a:xfrm>
          <a:prstGeom prst="roundRect">
            <a:avLst>
              <a:gd name="adj" fmla="val 1304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9144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WALK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91840" y="1389888"/>
            <a:ext cx="233172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13898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Phase 1–2 (2026)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83280" y="17830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75304" y="17190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Kubecost deployed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83280" y="22402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75304" y="21762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Tagging enforced (OPA)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83280" y="26974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75304" y="26334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Showback dashboards live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83280" y="31546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75304" y="30906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Rightsizing recommendations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83280" y="36118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75304" y="35478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FinOps CoE established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89320" y="822960"/>
            <a:ext cx="2834640" cy="3401568"/>
          </a:xfrm>
          <a:prstGeom prst="roundRect">
            <a:avLst>
              <a:gd name="adj" fmla="val 3226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9320" y="822960"/>
            <a:ext cx="28346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914400"/>
            <a:ext cx="2560320" cy="420624"/>
          </a:xfrm>
          <a:prstGeom prst="roundRect">
            <a:avLst>
              <a:gd name="adj" fmla="val 1304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9144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RUN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126480" y="1389888"/>
            <a:ext cx="2560320" cy="237744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1389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Phase 3 (2027)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17920" y="17830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9944" y="17190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Full chargeback model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17920" y="22402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9944" y="21762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Unit economics tracked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17920" y="26974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9944" y="26334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Automated optimisation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17920" y="31546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9944" y="30906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FinOps in PEON IDP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17920" y="36118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9944" y="35478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</a:rPr>
              <a:t>Continuous waste elimination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4279392"/>
            <a:ext cx="2331720" cy="237744"/>
          </a:xfrm>
          <a:prstGeom prst="roundRect">
            <a:avLst>
              <a:gd name="adj" fmla="val 1923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2793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📍  PAYSAFE IS HERE TODAY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0" y="4279392"/>
            <a:ext cx="2331720" cy="237744"/>
          </a:xfrm>
          <a:prstGeom prst="roundRect">
            <a:avLst>
              <a:gd name="adj" fmla="val 19231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42793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🎯  TARGET END OF 2026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144768" y="4279392"/>
            <a:ext cx="2560320" cy="237744"/>
          </a:xfrm>
          <a:prstGeom prst="roundRect">
            <a:avLst>
              <a:gd name="adj" fmla="val 19231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44768" y="42793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🚀  NORTH STAR — 2027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10 / 14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7432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PAYSAFE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F4E">
              <a:alpha val="30000"/>
            </a:srgbClr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2E">
              <a:alpha val="25000"/>
            </a:srgbClr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1A0B2E">
              <a:alpha val="28000"/>
            </a:srgbClr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2FF"/>
                </a:solidFill>
              </a:rPr>
              <a:t>INTEGRATED ROADMAP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74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Transformation Roadmap — Swimlane View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22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949E"/>
                </a:solidFill>
              </a:rPr>
              <a:t>WORKSTREAM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74520" y="8229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Q1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44952" y="8229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Q2 2026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44952" y="822960"/>
            <a:ext cx="0" cy="39319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15384" y="8229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Q3 2026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15384" y="822960"/>
            <a:ext cx="0" cy="39319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85816" y="8229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Q4 2026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85816" y="822960"/>
            <a:ext cx="0" cy="39319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8229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Q1 2027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56248" y="822960"/>
            <a:ext cx="0" cy="39319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8229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</a:rPr>
              <a:t>Q2 2027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726680" y="822960"/>
            <a:ext cx="0" cy="39319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1143000"/>
            <a:ext cx="150876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1143000"/>
            <a:ext cx="36576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1197864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⚡ Chaos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Engineering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920240" y="1234440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56816" y="1234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Tooling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Selection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090672" y="1234440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27248" y="1234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Blast-Radius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Policies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261104" y="1234440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1234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1st GameDay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+ CI/CD Chaos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31536" y="1234440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1234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Runbook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Library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601968" y="1234440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38544" y="1234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Cross-Team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GameDays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772400" y="1234440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08976" y="1234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Chaos-as-Service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PEON IDP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1947672"/>
            <a:ext cx="150876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1947672"/>
            <a:ext cx="36576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2002536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💰 FinOps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920240" y="2039112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56816" y="203911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Kubecost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Deploy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90672" y="2039112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27248" y="203911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OPA Tag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Enforcement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261104" y="2039112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0" y="203911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Team Showback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Dashboards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431536" y="2039112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68112" y="203911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Rightsizing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Automation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601968" y="2039112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8544" y="203911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Full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Chargeback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772400" y="2039112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08976" y="203911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Unit Economics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+ PEON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20040" y="2752344"/>
            <a:ext cx="150876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2752344"/>
            <a:ext cx="36576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" y="280720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🏗️ PEON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IDP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920240" y="2843784"/>
            <a:ext cx="2249424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56816" y="284378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Chaos Wizard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Integration Design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261104" y="2843784"/>
            <a:ext cx="2249424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97680" y="284378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Cost Widget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Development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601968" y="2843784"/>
            <a:ext cx="2249424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38544" y="284378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FinOps + Chaos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Self-Service Portal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20040" y="3557016"/>
            <a:ext cx="150876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" y="3557016"/>
            <a:ext cx="36576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2336" y="361188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📐 Governance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&amp; CoE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920240" y="3648456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56816" y="36484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FinOps CoE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Establish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090672" y="3648456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27248" y="36484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Chaos CoE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Champions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261104" y="3648456"/>
            <a:ext cx="2249424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97680" y="364845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Quarterly Review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Cadence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601968" y="3648456"/>
            <a:ext cx="2249424" cy="566928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38544" y="364845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KPI Dashboard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</a:rPr>
              <a:t>+ ARB Reviews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520440" y="46634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◆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172968" y="4462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1st GameDay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630168" y="1115568"/>
            <a:ext cx="0" cy="33832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61304" y="46634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◆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513832" y="4462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Showback Live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971032" y="1115568"/>
            <a:ext cx="0" cy="33832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02168" y="466344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◆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7854696" y="4462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Full FinOps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Operate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8311896" y="1115568"/>
            <a:ext cx="0" cy="338328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11 / 14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7432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PAYSAFE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F4E">
              <a:alpha val="30000"/>
            </a:srgbClr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2E">
              <a:alpha val="25000"/>
            </a:srgbClr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1A0B2E">
              <a:alpha val="28000"/>
            </a:srgbClr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INVESTMENT CASE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74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For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22960"/>
            <a:ext cx="416052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89611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F"/>
                </a:solidFill>
              </a:rPr>
              <a:t>⚡ Chaos Engineering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35808" y="877824"/>
            <a:ext cx="1353312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87782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£120–180K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35808" y="10515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Year 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" y="1298448"/>
            <a:ext cx="383133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135331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B949E"/>
                </a:solidFill>
              </a:rPr>
              <a:t>BUDGET BREAKDOWN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84632" y="1572768"/>
            <a:ext cx="3831336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15727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LitmusChaos / Gremlin License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56432" y="157276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£40–60K/yr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" y="1956816"/>
            <a:ext cx="3831336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19568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Chaos Engineering CoE (2 FTE)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56432" y="1956816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£80–120K/yr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" y="2340864"/>
            <a:ext cx="3831336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34086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GameDay Infrastructure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56432" y="234086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Internal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" y="2724912"/>
            <a:ext cx="3831336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27249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Training &amp; Certification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56432" y="2724912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£8–12K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" y="3145536"/>
            <a:ext cx="383133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320040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F4444"/>
                </a:solidFill>
              </a:rPr>
              <a:t>EXPECTED RETURN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4632" y="341985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✓  50% reduction in P1 incidents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" y="374904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✓  MTTR improved from &gt;24h to &lt;30min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" y="407822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✓  Engineering confidence + velocity up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82296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822960"/>
            <a:ext cx="41605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89611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F"/>
                </a:solidFill>
              </a:rPr>
              <a:t>💰 FinOps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470648" y="877824"/>
            <a:ext cx="1353312" cy="347472"/>
          </a:xfrm>
          <a:prstGeom prst="roundRect">
            <a:avLst>
              <a:gd name="adj" fmla="val 15789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0648" y="87782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£180–240K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70648" y="10515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Year 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919472" y="1298448"/>
            <a:ext cx="383133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135331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B949E"/>
                </a:solidFill>
              </a:rPr>
              <a:t>BUDGET BREAKDOWN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919472" y="1572768"/>
            <a:ext cx="3831336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15727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Kubecost Enterprise License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91272" y="157276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£60–90K/yr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19472" y="1956816"/>
            <a:ext cx="3831336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10912" y="19568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FinOps CoE (3–5 FTE)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891272" y="1956816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£120–200K/yr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19472" y="2340864"/>
            <a:ext cx="3831336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10912" y="234086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OPA / Policy Tooling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891272" y="234086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Open Source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919472" y="2724912"/>
            <a:ext cx="3831336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0912" y="27249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</a:rPr>
              <a:t>Training &amp; FinOps Foundation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891272" y="2724912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£10–15K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19472" y="3145536"/>
            <a:ext cx="383133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9472" y="320040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0B981"/>
                </a:solidFill>
              </a:rPr>
              <a:t>EXPECTED RETURN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919472" y="341985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✓  20–30% cloud cost reduction (~£Xm)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919472" y="374904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✓  100% resource tag compliance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919472" y="407822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✓  Chargeback accountability culture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12 / 14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7432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PAYSAFE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1F4E">
              <a:alpha val="30000"/>
            </a:srgbClr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3B2E">
              <a:alpha val="25000"/>
            </a:srgbClr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-1371600"/>
            <a:ext cx="2743200" cy="2743200"/>
          </a:xfrm>
          <a:prstGeom prst="ellipse">
            <a:avLst/>
          </a:prstGeom>
          <a:solidFill>
            <a:srgbClr val="1A0B2E">
              <a:alpha val="28000"/>
            </a:srgbClr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</a:rPr>
              <a:t>RISK REGISTER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74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Dependencies &amp; Mitigations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8229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RISK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56432" y="822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LIKELIHOOD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90872" y="8229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IMPACT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833872" y="822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SCOPE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702552" y="822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D2FF"/>
                </a:solidFill>
              </a:rPr>
              <a:t>MITIGATION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1115568"/>
            <a:ext cx="850392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117043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</a:rPr>
              <a:t>Chaos experiments cause unplanned prod outage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66160" y="128016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2801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MED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27448" y="128016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12801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HIGH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06440" y="128016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128016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702552" y="1170432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Blast-radius governor + staged rollout (lower env first)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1755648"/>
            <a:ext cx="850392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181051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</a:rPr>
              <a:t>Low adoption of chaos culture by dev teams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66160" y="192024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19202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HIGH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27448" y="192024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19202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MED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806440" y="192024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9202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CE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02552" y="1810512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Executive sponsorship + chaos champion network per squad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2395728"/>
            <a:ext cx="850392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24505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</a:rPr>
              <a:t>FinOps CoE FTE headcount not approved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566160" y="256032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25603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MED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27448" y="256032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27448" y="25603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HIGH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806440" y="256032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2560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FO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702552" y="2450592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Start with 1 FTE + shared FinOps Guild from existing cloud team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3035808"/>
            <a:ext cx="8503920" cy="6035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" y="309067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</a:rPr>
              <a:t>Kubecost data quality with poor tagging baseline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566160" y="320040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6160" y="32004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HIGH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27448" y="320040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27448" y="32004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MED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806440" y="320040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06440" y="320040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FO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702552" y="3090672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OPA tag enforcement as prerequisite; 60-day tag remediation sprint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20040" y="3675888"/>
            <a:ext cx="850392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" y="373075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</a:rPr>
              <a:t>PEON IDP integration delayed by other priorities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566160" y="384048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0" y="38404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MED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27448" y="384048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27448" y="38404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MED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806440" y="3840480"/>
            <a:ext cx="566928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06440" y="38404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FF"/>
                </a:solidFill>
              </a:rPr>
              <a:t>Both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702552" y="3730752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Decouple IDP integration to Phase 3; standalone tools are sufficient for Phase 1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0040" y="4261104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0D1A0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2611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</a:rPr>
              <a:t>✅  DEFINITION OF DONE:  Both initiatives have clear quarterly OKRs, dedicated owners, and will be reviewed monthly by the Cloud Native Platform Engineering Guild.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13 / 14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7432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PAYSAFE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12"/>
          </a:solidFill>
          <a:ln w="12700">
            <a:solidFill>
              <a:srgbClr val="06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00D2FF">
              <a:alpha val="8000"/>
            </a:srgbClr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2FF"/>
                </a:solidFill>
              </a:rPr>
              <a:t>DECISION REQUIRED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9494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Asks for Leadership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89888"/>
            <a:ext cx="54864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604772"/>
            <a:ext cx="438912" cy="43891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70992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912"/>
                </a:solidFill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148132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</a:rPr>
              <a:t>Approve budget allocation for Chaos Engineering CoE (2 FTE) and LitmusChaos/Gremlin tooling for H1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7744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59232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69748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912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24688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</a:rPr>
              <a:t>Approve FinOps CoE headcount (3 FTE by Q2 2026) and Kubecost Enterprise licensing to begin cost visibility programme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64992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579876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6850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912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8448" y="3456432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</a:rPr>
              <a:t>Mandate tag enforcement policy organisation-wide and make FinOps + Chaos Engineering OKRs part of 2026 engineering objectives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251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49E"/>
                </a:solidFill>
              </a:rPr>
              <a:t>Both initiatives are foundational to Paysafe's cloud native platform maturity.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Paysafe  ·  Cloud Native Platform  ·  Platform Engineering Guild  ·  2026  · 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Resilience &amp; Cloud Economics — Transformation Strategy</dc:title>
  <dc:subject>PptxGenJS Presentation</dc:subject>
  <dc:creator>PptxGenJS</dc:creator>
  <cp:lastModifiedBy>PptxGenJS</cp:lastModifiedBy>
  <cp:revision>1</cp:revision>
  <dcterms:created xsi:type="dcterms:W3CDTF">2026-05-12T06:07:09Z</dcterms:created>
  <dcterms:modified xsi:type="dcterms:W3CDTF">2026-05-12T06:07:09Z</dcterms:modified>
</cp:coreProperties>
</file>